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60" r:id="rId3"/>
    <p:sldId id="276" r:id="rId4"/>
    <p:sldId id="267" r:id="rId5"/>
    <p:sldId id="278" r:id="rId6"/>
    <p:sldId id="280" r:id="rId7"/>
    <p:sldId id="279" r:id="rId8"/>
    <p:sldId id="268" r:id="rId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FE7"/>
    <a:srgbClr val="0F3A5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800" autoAdjust="0"/>
    <p:restoredTop sz="94660"/>
  </p:normalViewPr>
  <p:slideViewPr>
    <p:cSldViewPr snapToGrid="0">
      <p:cViewPr varScale="1">
        <p:scale>
          <a:sx n="162" d="100"/>
          <a:sy n="162" d="100"/>
        </p:scale>
        <p:origin x="276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Дмитрий Аввакумов" userId="af615d77af3aed6b" providerId="LiveId" clId="{7BA8B2CF-59C4-43C8-B726-A3DFC3BCC9B4}"/>
    <pc:docChg chg="custSel delSld modSld">
      <pc:chgData name="Дмитрий Аввакумов" userId="af615d77af3aed6b" providerId="LiveId" clId="{7BA8B2CF-59C4-43C8-B726-A3DFC3BCC9B4}" dt="2024-11-17T10:36:57.973" v="17" actId="14100"/>
      <pc:docMkLst>
        <pc:docMk/>
      </pc:docMkLst>
      <pc:sldChg chg="modSp mod">
        <pc:chgData name="Дмитрий Аввакумов" userId="af615d77af3aed6b" providerId="LiveId" clId="{7BA8B2CF-59C4-43C8-B726-A3DFC3BCC9B4}" dt="2024-11-17T10:36:57.973" v="17" actId="14100"/>
        <pc:sldMkLst>
          <pc:docMk/>
          <pc:sldMk cId="4201332425" sldId="268"/>
        </pc:sldMkLst>
        <pc:spChg chg="mod">
          <ac:chgData name="Дмитрий Аввакумов" userId="af615d77af3aed6b" providerId="LiveId" clId="{7BA8B2CF-59C4-43C8-B726-A3DFC3BCC9B4}" dt="2024-11-17T10:36:55.953" v="16" actId="27636"/>
          <ac:spMkLst>
            <pc:docMk/>
            <pc:sldMk cId="4201332425" sldId="268"/>
            <ac:spMk id="3" creationId="{ED1952AE-B4C2-AEAF-F81D-3028C230244B}"/>
          </ac:spMkLst>
        </pc:spChg>
        <pc:spChg chg="mod">
          <ac:chgData name="Дмитрий Аввакумов" userId="af615d77af3aed6b" providerId="LiveId" clId="{7BA8B2CF-59C4-43C8-B726-A3DFC3BCC9B4}" dt="2024-11-17T10:36:57.973" v="17" actId="14100"/>
          <ac:spMkLst>
            <pc:docMk/>
            <pc:sldMk cId="4201332425" sldId="268"/>
            <ac:spMk id="5" creationId="{1BDE4682-EE67-4373-3937-B7D8DF39DB02}"/>
          </ac:spMkLst>
        </pc:spChg>
      </pc:sldChg>
      <pc:sldChg chg="del">
        <pc:chgData name="Дмитрий Аввакумов" userId="af615d77af3aed6b" providerId="LiveId" clId="{7BA8B2CF-59C4-43C8-B726-A3DFC3BCC9B4}" dt="2024-11-17T10:36:28.477" v="0" actId="47"/>
        <pc:sldMkLst>
          <pc:docMk/>
          <pc:sldMk cId="227800385" sldId="270"/>
        </pc:sldMkLst>
      </pc:sldChg>
      <pc:sldChg chg="del">
        <pc:chgData name="Дмитрий Аввакумов" userId="af615d77af3aed6b" providerId="LiveId" clId="{7BA8B2CF-59C4-43C8-B726-A3DFC3BCC9B4}" dt="2024-11-17T10:36:30.816" v="2" actId="47"/>
        <pc:sldMkLst>
          <pc:docMk/>
          <pc:sldMk cId="2461868390" sldId="271"/>
        </pc:sldMkLst>
      </pc:sldChg>
      <pc:sldChg chg="del">
        <pc:chgData name="Дмитрий Аввакумов" userId="af615d77af3aed6b" providerId="LiveId" clId="{7BA8B2CF-59C4-43C8-B726-A3DFC3BCC9B4}" dt="2024-11-17T10:36:29.696" v="1" actId="47"/>
        <pc:sldMkLst>
          <pc:docMk/>
          <pc:sldMk cId="1868920757" sldId="272"/>
        </pc:sldMkLst>
      </pc:sldChg>
      <pc:sldChg chg="del">
        <pc:chgData name="Дмитрий Аввакумов" userId="af615d77af3aed6b" providerId="LiveId" clId="{7BA8B2CF-59C4-43C8-B726-A3DFC3BCC9B4}" dt="2024-11-17T10:36:31.873" v="3" actId="47"/>
        <pc:sldMkLst>
          <pc:docMk/>
          <pc:sldMk cId="2313019591" sldId="273"/>
        </pc:sldMkLst>
      </pc:sldChg>
      <pc:sldChg chg="del">
        <pc:chgData name="Дмитрий Аввакумов" userId="af615d77af3aed6b" providerId="LiveId" clId="{7BA8B2CF-59C4-43C8-B726-A3DFC3BCC9B4}" dt="2024-11-17T10:36:33.515" v="5" actId="47"/>
        <pc:sldMkLst>
          <pc:docMk/>
          <pc:sldMk cId="2885534738" sldId="274"/>
        </pc:sldMkLst>
      </pc:sldChg>
      <pc:sldChg chg="del">
        <pc:chgData name="Дмитрий Аввакумов" userId="af615d77af3aed6b" providerId="LiveId" clId="{7BA8B2CF-59C4-43C8-B726-A3DFC3BCC9B4}" dt="2024-11-17T10:36:34.546" v="6" actId="47"/>
        <pc:sldMkLst>
          <pc:docMk/>
          <pc:sldMk cId="2076137213" sldId="275"/>
        </pc:sldMkLst>
      </pc:sldChg>
      <pc:sldChg chg="del">
        <pc:chgData name="Дмитрий Аввакумов" userId="af615d77af3aed6b" providerId="LiveId" clId="{7BA8B2CF-59C4-43C8-B726-A3DFC3BCC9B4}" dt="2024-11-17T10:36:32.589" v="4" actId="47"/>
        <pc:sldMkLst>
          <pc:docMk/>
          <pc:sldMk cId="1721850289" sldId="27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8A68FD-397F-40F5-BCFE-7A5ABC7FD423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D97B1D-A6F5-4064-97F0-640B61C7389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52915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14474A-92FD-B7A2-02B8-56EF8C58C3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FB07F4F-E24C-7A66-1F9B-880628C067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CEA6A1F-BB18-05DC-A099-908BE842FB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5FF7C-21B0-4F0C-AE7B-4EF37C3EDCBC}" type="datetime1">
              <a:rPr lang="ru-RU" smtClean="0"/>
              <a:t>06.05.2026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6276D54-E737-69E8-690F-08077DF20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B17D21E-A85A-A261-48D9-1428F4DFF5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785" y="6356350"/>
            <a:ext cx="2743200" cy="365125"/>
          </a:xfrm>
        </p:spPr>
        <p:txBody>
          <a:bodyPr/>
          <a:lstStyle>
            <a:lvl1pPr>
              <a:defRPr sz="3200" b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fld id="{F156F792-9079-4C60-8E01-F3140190FD35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098332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402F1E-8C95-0CCB-CC13-39CB731C56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E170897-BC0F-C774-65FD-121DFEB950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80082A4-255D-B52D-61C9-86FE091660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10B40-E700-4CDE-9AD1-7AD70CE40315}" type="datetime1">
              <a:rPr lang="ru-RU" smtClean="0"/>
              <a:t>06.05.2026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78FE14D-E7F1-5F37-ABE1-EB12E6DCE1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3DF7B7F-8243-C6FC-4C7E-6DF56C1CF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6F792-9079-4C60-8E01-F3140190FD35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695115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2D50AA-39F6-0882-836E-EF922FC302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E55D1F8-A0A8-BC24-45DA-2B59079DA4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B9DDF39-A8C3-E5CB-4679-15C7F248FA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B6900-25E7-41AE-A827-E1083205DD0B}" type="datetime1">
              <a:rPr lang="ru-RU" smtClean="0"/>
              <a:t>06.05.2026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7954E23-A4EE-F144-3549-D7137DBDAF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ECF9303-AA51-68C8-AA1B-2E4AF7656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6F792-9079-4C60-8E01-F3140190FD35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035091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67F13A-DD86-99C8-88E9-4B05A75DF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6F4EAEE-78F4-3785-654A-963CBA387B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35F9BE6-3E17-4D26-7712-EE2BB06670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B32C32E-27CD-E755-CB9C-6FA3E03847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1782A5-D28D-4309-87D6-281DC8B52FE1}" type="datetime1">
              <a:rPr lang="ru-RU" smtClean="0"/>
              <a:t>06.05.2026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F399873-CC3E-2868-0CCE-54AD7BB15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42C6F04-DF22-73C3-863B-F53875DAB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6F792-9079-4C60-8E01-F3140190FD3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888676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8EBB794-3739-3A69-885F-4E42DEA9E2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08731F9-8C31-8DB4-324C-B71A91726B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1FB0D88-75A0-29D8-7983-8024C7E4A4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F3B1FB5C-9789-C313-4442-4EB4E618EA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3D007D9A-0981-53CF-0736-B68BEF280F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4B033504-2A60-DA93-10FA-4B3959805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2E3BB-9025-42D5-8DC5-3187AB1FB0FA}" type="datetime1">
              <a:rPr lang="ru-RU" smtClean="0"/>
              <a:t>06.05.2026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E197C3BB-24B9-39B1-FEB1-92CC1BEAAF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BC68062D-BEBF-BEAA-4087-C27F95A77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6F792-9079-4C60-8E01-F3140190FD3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41925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897CED-13AD-FB8E-2140-F47B966E3A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FBCA883D-8FE4-EBDD-C57B-A5933062A2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AC857-D641-4C7E-9A80-E56AC9F6EA46}" type="datetime1">
              <a:rPr lang="ru-RU" smtClean="0"/>
              <a:t>06.05.2026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C1C86C9B-5CCA-5424-8A3F-28F995E2CF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BEE94D4-7C91-8EF7-7136-31DE924F70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6F792-9079-4C60-8E01-F3140190FD3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168697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282E9BA6-3AA5-E856-6E2E-2197958741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1232A-02CD-425E-9991-68DDDFD93D59}" type="datetime1">
              <a:rPr lang="ru-RU" smtClean="0"/>
              <a:t>06.05.2026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711DAE24-D305-FEB7-2AD8-E41C9224A1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C4E6D7F-9DE8-54DD-3909-1C37E5280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70869" y="6356349"/>
            <a:ext cx="2743200" cy="365125"/>
          </a:xfrm>
        </p:spPr>
        <p:txBody>
          <a:bodyPr/>
          <a:lstStyle/>
          <a:p>
            <a:fld id="{F156F792-9079-4C60-8E01-F3140190FD3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44950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D609FE7-FFBC-8617-F8E5-8F73F203AB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9CF5276-D305-6BCE-3C2D-71D546078C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5E1DA76-C579-C108-1F2F-F9756CBD54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0577EF7-B4A8-8F27-D948-E83686C9D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76F4B-4575-4184-8D99-E80CB2526672}" type="datetime1">
              <a:rPr lang="ru-RU" smtClean="0"/>
              <a:t>06.05.2026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17FB3EA-A8C8-E629-7F62-4E887D6D34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D363E42-9035-52B0-3415-7D2E45F4A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6F792-9079-4C60-8E01-F3140190FD3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772175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D41E56-BDAD-CDB2-36FD-3740F6FCDD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8BEE1CC2-6CED-137E-B36E-8714982C03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9BCA39F-CAFB-5F6C-985F-C0671559F0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036AF0C-B70B-7B45-E6B7-B409AF0E57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EE15B-6DC8-49D2-B0CF-B3289418CEC3}" type="datetime1">
              <a:rPr lang="ru-RU" smtClean="0"/>
              <a:t>06.05.2026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A4F7E20-55EB-CF6D-760C-513C0FC501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A271C42-AA3D-27A8-42A5-1A54DC7E8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6F792-9079-4C60-8E01-F3140190FD3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103146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68C166-7889-7193-5405-EF41BF4D5F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A9A17A7-17D4-4BB2-BC6B-2E9657890F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7322774-DFE2-D7F4-6B4C-4C401893C9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47951-6879-4336-A4CF-7707022D97B4}" type="datetime1">
              <a:rPr lang="ru-RU" smtClean="0"/>
              <a:t>06.05.2026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8F1FBAC-13D3-778A-399A-FAB99EBDC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0665611-876C-908E-87EA-E1069F006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6F792-9079-4C60-8E01-F3140190FD3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280550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FE78E360-ABDA-7E27-B006-06ABA553C0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2D7E2F9-E744-721B-31AC-BD7EDC9878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79E62B3-50EA-A3BE-9F01-570350E442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F09AA-3A8D-4206-86DF-2B946359881B}" type="datetime1">
              <a:rPr lang="ru-RU" smtClean="0"/>
              <a:t>06.05.2026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BFBF9C2-2AF5-2CF7-F8BB-D5998CF9F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27AE0FD-A47F-A7EB-F9A9-575B18EDA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6F792-9079-4C60-8E01-F3140190FD3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99503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648CDA1-E5E6-32E8-3A17-FB45DC0575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241F1F1-9BC9-4C42-34FC-214C983607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C683392-CF91-549D-3CF5-917F4840E8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805485-43FB-4159-8B42-7FA3BD1EAADA}" type="datetime1">
              <a:rPr lang="ru-RU" smtClean="0"/>
              <a:t>06.05.2026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290BDC4-DB41-7388-FE3C-0CDC16CD0D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A8D9364-8F53-C005-7D4C-F7F9888F15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200" b="1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fld id="{F156F792-9079-4C60-8E01-F3140190FD35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228154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7">
            <a:extLst>
              <a:ext uri="{FF2B5EF4-FFF2-40B4-BE49-F238E27FC236}">
                <a16:creationId xmlns:a16="http://schemas.microsoft.com/office/drawing/2014/main" id="{CE554FE2-66C7-739D-80A7-DDBBC7A28A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23190" y="1911004"/>
            <a:ext cx="8318090" cy="936104"/>
          </a:xfrm>
        </p:spPr>
        <p:txBody>
          <a:bodyPr>
            <a:noAutofit/>
          </a:bodyPr>
          <a:lstStyle/>
          <a:p>
            <a:r>
              <a:rPr lang="ru-RU" sz="2400" b="1" dirty="0">
                <a:latin typeface="Arial" panose="020B0604020202020204" pitchFamily="34" charset="0"/>
                <a:ea typeface="Roboto" pitchFamily="2" charset="0"/>
                <a:cs typeface="Arial" panose="020B0604020202020204" pitchFamily="34" charset="0"/>
              </a:rPr>
              <a:t>Исполняющие сервисы инструмента для автоматизации сборки, тестирования и доставки ПО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9EA162F-865F-70A6-631C-EA415B4A0C5C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GlowEdges/>
                    </a14:imgEffect>
                    <a14:imgEffect>
                      <a14:colorTemperature colorTemp="3876"/>
                    </a14:imgEffect>
                    <a14:imgEffect>
                      <a14:saturation sat="342000"/>
                    </a14:imgEffect>
                  </a14:imgLayer>
                </a14:imgProps>
              </a:ext>
            </a:extLst>
          </a:blip>
          <a:stretch/>
        </p:blipFill>
        <p:spPr bwMode="auto">
          <a:xfrm>
            <a:off x="9593946" y="6062704"/>
            <a:ext cx="2106491" cy="535281"/>
          </a:xfrm>
          <a:prstGeom prst="rect">
            <a:avLst/>
          </a:prstGeom>
          <a:effectLst/>
        </p:spPr>
      </p:pic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DF9C54B7-3D1B-4CB6-3E7D-FF3DD21D943E}"/>
              </a:ext>
            </a:extLst>
          </p:cNvPr>
          <p:cNvCxnSpPr>
            <a:cxnSpLocks/>
          </p:cNvCxnSpPr>
          <p:nvPr/>
        </p:nvCxnSpPr>
        <p:spPr>
          <a:xfrm>
            <a:off x="345236" y="895494"/>
            <a:ext cx="11501528" cy="0"/>
          </a:xfrm>
          <a:prstGeom prst="line">
            <a:avLst/>
          </a:prstGeom>
          <a:ln w="28575">
            <a:solidFill>
              <a:schemeClr val="tx1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Подзаголовок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93175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Содержимое 23">
            <a:extLst>
              <a:ext uri="{FF2B5EF4-FFF2-40B4-BE49-F238E27FC236}">
                <a16:creationId xmlns:a16="http://schemas.microsoft.com/office/drawing/2014/main" id="{6F8F0982-FD86-8C22-8C4C-81767631C712}"/>
              </a:ext>
            </a:extLst>
          </p:cNvPr>
          <p:cNvSpPr txBox="1">
            <a:spLocks/>
          </p:cNvSpPr>
          <p:nvPr/>
        </p:nvSpPr>
        <p:spPr bwMode="auto">
          <a:xfrm>
            <a:off x="345235" y="1124468"/>
            <a:ext cx="11501528" cy="4351222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358775" algn="just"/>
            <a:r>
              <a:rPr lang="ru-RU" sz="1800" dirty="0" smtClean="0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Автоматизация</a:t>
            </a:r>
            <a:r>
              <a:rPr lang="en-US" sz="1800" dirty="0" smtClean="0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 </a:t>
            </a:r>
            <a:r>
              <a:rPr lang="ru-RU" sz="1800" dirty="0" smtClean="0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и ускорение </a:t>
            </a:r>
            <a:r>
              <a:rPr lang="ru-RU" sz="1800" dirty="0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процесса интеграции, тестирования и внедрения отечественных информационных систем</a:t>
            </a:r>
            <a:r>
              <a:rPr lang="en-US" sz="1800" dirty="0" smtClean="0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;</a:t>
            </a:r>
            <a:endParaRPr lang="ru-RU" sz="1800" dirty="0" smtClean="0"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  <a:p>
            <a:pPr marL="0" indent="358775" algn="just"/>
            <a:r>
              <a:rPr lang="ru-RU" sz="1800" dirty="0">
                <a:latin typeface="Arial"/>
              </a:rPr>
              <a:t>В условиях импортозамещения востребованы российские инструменты разработки и тестирования</a:t>
            </a:r>
            <a:r>
              <a:rPr lang="ru-RU" sz="1800" dirty="0" smtClean="0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;</a:t>
            </a:r>
            <a:endParaRPr lang="ru-RU" sz="1800" dirty="0"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  <a:p>
            <a:pPr marL="0" indent="358775" algn="just"/>
            <a:r>
              <a:rPr lang="ru-RU" sz="1800" dirty="0" smtClean="0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Есть риск запрета использования зарубежных несертифицированных инструментов в разработке для российских компаний</a:t>
            </a:r>
            <a:r>
              <a:rPr lang="en-US" sz="1800" dirty="0" smtClean="0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;</a:t>
            </a:r>
          </a:p>
          <a:p>
            <a:pPr marL="0" indent="358775" algn="just"/>
            <a:r>
              <a:rPr lang="ru-RU" sz="1800" dirty="0" smtClean="0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Способствование и упрощение процесса сертификации российских ИТ продуктов</a:t>
            </a:r>
            <a:r>
              <a:rPr lang="en-US" sz="1800" dirty="0" smtClean="0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;</a:t>
            </a:r>
          </a:p>
          <a:p>
            <a:pPr marL="0" indent="358775" algn="just"/>
            <a:r>
              <a:rPr lang="ru-RU" sz="1800" dirty="0">
                <a:latin typeface="Arial"/>
              </a:rPr>
              <a:t>Интеграция </a:t>
            </a:r>
            <a:r>
              <a:rPr lang="ru-RU" sz="1800" dirty="0" err="1">
                <a:latin typeface="Arial"/>
              </a:rPr>
              <a:t>фаззинг</a:t>
            </a:r>
            <a:r>
              <a:rPr lang="ru-RU" sz="1800" dirty="0">
                <a:latin typeface="Arial"/>
              </a:rPr>
              <a:t>-тестирования повышает вероятность раннего выявления дефектов и уязвимостей;</a:t>
            </a:r>
          </a:p>
          <a:p>
            <a:pPr marL="0" indent="358775" algn="just"/>
            <a:r>
              <a:rPr lang="ru-RU" sz="1800" dirty="0">
                <a:latin typeface="Arial"/>
              </a:rPr>
              <a:t>Использование LLM для генерации входных данных делает </a:t>
            </a:r>
            <a:r>
              <a:rPr lang="ru-RU" sz="1800" dirty="0" err="1">
                <a:latin typeface="Arial"/>
              </a:rPr>
              <a:t>фаззинг</a:t>
            </a:r>
            <a:r>
              <a:rPr lang="ru-RU" sz="1800" dirty="0">
                <a:latin typeface="Arial"/>
              </a:rPr>
              <a:t> более гибким для сложных форматов и API.</a:t>
            </a:r>
            <a:endParaRPr lang="ru-RU" sz="1800" dirty="0"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  <a:p>
            <a:pPr marL="0" indent="358775" algn="just"/>
            <a:endParaRPr lang="ru-RU" sz="1800" dirty="0"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  <a:p>
            <a:endParaRPr lang="ru-RU" sz="1600" dirty="0"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B5825A0-31D9-25B6-0059-D3C90AB22669}"/>
              </a:ext>
            </a:extLst>
          </p:cNvPr>
          <p:cNvSpPr txBox="1"/>
          <p:nvPr/>
        </p:nvSpPr>
        <p:spPr bwMode="auto">
          <a:xfrm>
            <a:off x="2896098" y="104630"/>
            <a:ext cx="63998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dirty="0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Актуальность</a:t>
            </a:r>
          </a:p>
        </p:txBody>
      </p: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F153822E-A68F-3477-7EB9-7DD0D138715F}"/>
              </a:ext>
            </a:extLst>
          </p:cNvPr>
          <p:cNvCxnSpPr>
            <a:cxnSpLocks/>
          </p:cNvCxnSpPr>
          <p:nvPr/>
        </p:nvCxnSpPr>
        <p:spPr>
          <a:xfrm>
            <a:off x="345235" y="819554"/>
            <a:ext cx="11501528" cy="0"/>
          </a:xfrm>
          <a:prstGeom prst="line">
            <a:avLst/>
          </a:prstGeom>
          <a:ln w="28575">
            <a:solidFill>
              <a:schemeClr val="tx1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E9203E0-2B5B-495A-66FC-E6383D1FB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6F792-9079-4C60-8E01-F3140190FD35}" type="slidenum">
              <a:rPr lang="ru-RU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2</a:t>
            </a:fld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6" name="Picture 2" descr="Как я познавал ci/cd, Гитхаб экшены / Хабр">
            <a:extLst>
              <a:ext uri="{FF2B5EF4-FFF2-40B4-BE49-F238E27FC236}">
                <a16:creationId xmlns:a16="http://schemas.microsoft.com/office/drawing/2014/main" id="{819C3F8C-BD9B-8E9E-71AF-7D8AABA51D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235" y="4505277"/>
            <a:ext cx="4681015" cy="2210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7DF4A01-38BC-8EE0-6D96-C95C1DF855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6668" y="4046957"/>
            <a:ext cx="5543830" cy="266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30275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Содержимое 23">
            <a:extLst>
              <a:ext uri="{FF2B5EF4-FFF2-40B4-BE49-F238E27FC236}">
                <a16:creationId xmlns:a16="http://schemas.microsoft.com/office/drawing/2014/main" id="{6F8F0982-FD86-8C22-8C4C-81767631C712}"/>
              </a:ext>
            </a:extLst>
          </p:cNvPr>
          <p:cNvSpPr txBox="1">
            <a:spLocks/>
          </p:cNvSpPr>
          <p:nvPr/>
        </p:nvSpPr>
        <p:spPr bwMode="auto">
          <a:xfrm>
            <a:off x="345235" y="1124468"/>
            <a:ext cx="11501528" cy="4351222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ru-RU" sz="2400" dirty="0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Цель – </a:t>
            </a:r>
            <a:r>
              <a:rPr lang="ru-RU" sz="2400" dirty="0" smtClean="0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разработать исполняющие сервисы инструмента автоматизации непрерывной </a:t>
            </a:r>
            <a:r>
              <a:rPr lang="ru-RU" sz="2400" dirty="0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интеграции и </a:t>
            </a:r>
            <a:r>
              <a:rPr lang="ru-RU" sz="2400" dirty="0" smtClean="0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развертывания. </a:t>
            </a:r>
            <a:endParaRPr lang="ru-RU" sz="2400" dirty="0"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  <a:p>
            <a:pPr marL="0" indent="0" algn="just">
              <a:buNone/>
            </a:pPr>
            <a:r>
              <a:rPr lang="ru-RU" sz="2400" dirty="0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Задачи:</a:t>
            </a:r>
          </a:p>
          <a:p>
            <a:pPr marL="0" indent="358775" algn="just"/>
            <a:r>
              <a:rPr lang="ru-RU" sz="2400" dirty="0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выполнить анализ существующих CI/CD-решений и подходов к </a:t>
            </a:r>
            <a:r>
              <a:rPr lang="ru-RU" sz="2400" dirty="0" err="1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фаззинг</a:t>
            </a:r>
            <a:r>
              <a:rPr lang="ru-RU" sz="2400" dirty="0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-тестированию;</a:t>
            </a:r>
          </a:p>
          <a:p>
            <a:pPr marL="0" indent="358775" algn="just"/>
            <a:r>
              <a:rPr lang="ru-RU" sz="2400" dirty="0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спроектировать и реализовать исполняющие сервисы системы;</a:t>
            </a:r>
          </a:p>
          <a:p>
            <a:pPr marL="0" indent="358775" algn="just"/>
            <a:r>
              <a:rPr lang="ru-RU" sz="2400" dirty="0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встроить этап </a:t>
            </a:r>
            <a:r>
              <a:rPr lang="ru-RU" sz="2400" dirty="0" err="1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фаззинг</a:t>
            </a:r>
            <a:r>
              <a:rPr lang="ru-RU" sz="2400" dirty="0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-тестирования и исследовать применение LLM для генерации входных данных;</a:t>
            </a:r>
          </a:p>
          <a:p>
            <a:pPr marL="0" indent="358775" algn="just"/>
            <a:r>
              <a:rPr lang="ru-RU" sz="2400" dirty="0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настроить взаимодействие сервисов, провести тестирование и оценку разработанного функционала</a:t>
            </a:r>
            <a:r>
              <a:rPr lang="ru-RU" sz="2400" dirty="0" smtClean="0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.</a:t>
            </a:r>
            <a:endParaRPr lang="ru-RU" sz="2400" dirty="0"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  <a:p>
            <a:endParaRPr lang="ru-RU" sz="2000" dirty="0"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B5825A0-31D9-25B6-0059-D3C90AB22669}"/>
              </a:ext>
            </a:extLst>
          </p:cNvPr>
          <p:cNvSpPr txBox="1"/>
          <p:nvPr/>
        </p:nvSpPr>
        <p:spPr bwMode="auto">
          <a:xfrm>
            <a:off x="2896098" y="104630"/>
            <a:ext cx="63998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dirty="0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Цель и задачи</a:t>
            </a:r>
          </a:p>
        </p:txBody>
      </p: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F153822E-A68F-3477-7EB9-7DD0D138715F}"/>
              </a:ext>
            </a:extLst>
          </p:cNvPr>
          <p:cNvCxnSpPr>
            <a:cxnSpLocks/>
          </p:cNvCxnSpPr>
          <p:nvPr/>
        </p:nvCxnSpPr>
        <p:spPr>
          <a:xfrm>
            <a:off x="345235" y="819554"/>
            <a:ext cx="11501528" cy="0"/>
          </a:xfrm>
          <a:prstGeom prst="line">
            <a:avLst/>
          </a:prstGeom>
          <a:ln w="28575">
            <a:solidFill>
              <a:schemeClr val="tx1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D86289D5-40DE-BEF8-56C6-FBF8F703E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6F792-9079-4C60-8E01-F3140190FD35}" type="slidenum">
              <a:rPr lang="ru-RU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3</a:t>
            </a:fld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62895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21">
            <a:extLst>
              <a:ext uri="{FF2B5EF4-FFF2-40B4-BE49-F238E27FC236}">
                <a16:creationId xmlns:a16="http://schemas.microsoft.com/office/drawing/2014/main" id="{586675DD-4EBB-0F18-FD83-6F0231FC93C8}"/>
              </a:ext>
            </a:extLst>
          </p:cNvPr>
          <p:cNvSpPr txBox="1">
            <a:spLocks/>
          </p:cNvSpPr>
          <p:nvPr/>
        </p:nvSpPr>
        <p:spPr>
          <a:xfrm>
            <a:off x="1981195" y="456635"/>
            <a:ext cx="8229600" cy="69269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2400" b="1" dirty="0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Архитектура </a:t>
            </a:r>
          </a:p>
        </p:txBody>
      </p:sp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C71BA3D7-6086-DE60-480C-BF0B8F8960BF}"/>
              </a:ext>
            </a:extLst>
          </p:cNvPr>
          <p:cNvCxnSpPr>
            <a:cxnSpLocks/>
          </p:cNvCxnSpPr>
          <p:nvPr/>
        </p:nvCxnSpPr>
        <p:spPr>
          <a:xfrm>
            <a:off x="345232" y="1068129"/>
            <a:ext cx="11501528" cy="0"/>
          </a:xfrm>
          <a:prstGeom prst="line">
            <a:avLst/>
          </a:prstGeom>
          <a:ln w="28575">
            <a:solidFill>
              <a:schemeClr val="tx1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C41C3FA-9695-588E-F3DF-EA2921FC9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6F792-9079-4C60-8E01-F3140190FD35}" type="slidenum">
              <a:rPr lang="ru-RU" smtClean="0">
                <a:latin typeface="Arial" panose="020B0604020202020204" pitchFamily="34" charset="0"/>
                <a:cs typeface="Arial" panose="020B0604020202020204" pitchFamily="34" charset="0"/>
              </a:rPr>
              <a:t>4</a:t>
            </a:fld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2BDC2B-6494-6C05-882D-0D1171707BF3}"/>
              </a:ext>
            </a:extLst>
          </p:cNvPr>
          <p:cNvSpPr txBox="1"/>
          <p:nvPr/>
        </p:nvSpPr>
        <p:spPr>
          <a:xfrm>
            <a:off x="2406640" y="6079350"/>
            <a:ext cx="73787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Рисунок </a:t>
            </a:r>
            <a:r>
              <a:rPr lang="ru-RU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1 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– Схема взаимодействия сервисов</a:t>
            </a:r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4074" y="1128391"/>
            <a:ext cx="7440676" cy="4649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94363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21">
            <a:extLst>
              <a:ext uri="{FF2B5EF4-FFF2-40B4-BE49-F238E27FC236}">
                <a16:creationId xmlns:a16="http://schemas.microsoft.com/office/drawing/2014/main" id="{586675DD-4EBB-0F18-FD83-6F0231FC93C8}"/>
              </a:ext>
            </a:extLst>
          </p:cNvPr>
          <p:cNvSpPr txBox="1">
            <a:spLocks/>
          </p:cNvSpPr>
          <p:nvPr/>
        </p:nvSpPr>
        <p:spPr>
          <a:xfrm>
            <a:off x="1981195" y="456635"/>
            <a:ext cx="8229600" cy="69269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2400" b="1" dirty="0" smtClean="0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Средства реализации</a:t>
            </a:r>
            <a:endParaRPr lang="ru-RU" sz="2400" b="1" dirty="0"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C71BA3D7-6086-DE60-480C-BF0B8F8960BF}"/>
              </a:ext>
            </a:extLst>
          </p:cNvPr>
          <p:cNvCxnSpPr>
            <a:cxnSpLocks/>
          </p:cNvCxnSpPr>
          <p:nvPr/>
        </p:nvCxnSpPr>
        <p:spPr>
          <a:xfrm>
            <a:off x="345232" y="1068129"/>
            <a:ext cx="11501528" cy="0"/>
          </a:xfrm>
          <a:prstGeom prst="line">
            <a:avLst/>
          </a:prstGeom>
          <a:ln w="28575">
            <a:solidFill>
              <a:schemeClr val="tx1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C41C3FA-9695-588E-F3DF-EA2921FC9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6F792-9079-4C60-8E01-F3140190FD35}" type="slidenum">
              <a:rPr lang="ru-RU" smtClean="0">
                <a:latin typeface="Arial" panose="020B0604020202020204" pitchFamily="34" charset="0"/>
                <a:cs typeface="Arial" panose="020B0604020202020204" pitchFamily="34" charset="0"/>
              </a:rPr>
              <a:t>5</a:t>
            </a:fld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2BDC2B-6494-6C05-882D-0D1171707BF3}"/>
              </a:ext>
            </a:extLst>
          </p:cNvPr>
          <p:cNvSpPr txBox="1"/>
          <p:nvPr/>
        </p:nvSpPr>
        <p:spPr>
          <a:xfrm>
            <a:off x="3396874" y="6079350"/>
            <a:ext cx="46803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Рисунок </a:t>
            </a:r>
            <a:r>
              <a:rPr lang="ru-RU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2 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– Средства </a:t>
            </a:r>
            <a:r>
              <a:rPr lang="ru-RU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реализации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30" name="Picture 6" descr="https://sdmntpritalynorth.oaiusercontent.com/files/00000000-5630-6246-a25f-85268c6af5db/raw?se=2025-10-13T22%3A05%3A29Z&amp;sp=r&amp;sv=2024-08-04&amp;sr=b&amp;scid=015f304e-559c-52aa-b4e6-48a6f30cd7b4&amp;skoid=b928fb90-500a-412f-a661-1ece57a7c318&amp;sktid=a48cca56-e6da-484e-a814-9c849652bcb3&amp;skt=2025-10-13T06%3A08%3A07Z&amp;ske=2025-10-14T06%3A08%3A07Z&amp;sks=b&amp;skv=2024-08-04&amp;sig=jb17JG%2B0qi6OrIn3IxaOUWNUHuttAKzVdvQdvq0n1U8%3D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854"/>
          <a:stretch/>
        </p:blipFill>
        <p:spPr bwMode="auto">
          <a:xfrm>
            <a:off x="1799361" y="1233018"/>
            <a:ext cx="8297139" cy="47651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98171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21">
            <a:extLst>
              <a:ext uri="{FF2B5EF4-FFF2-40B4-BE49-F238E27FC236}">
                <a16:creationId xmlns:a16="http://schemas.microsoft.com/office/drawing/2014/main" id="{586675DD-4EBB-0F18-FD83-6F0231FC93C8}"/>
              </a:ext>
            </a:extLst>
          </p:cNvPr>
          <p:cNvSpPr txBox="1">
            <a:spLocks/>
          </p:cNvSpPr>
          <p:nvPr/>
        </p:nvSpPr>
        <p:spPr>
          <a:xfrm>
            <a:off x="1981195" y="456635"/>
            <a:ext cx="8229600" cy="69269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2400" b="1" dirty="0" smtClean="0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Взаимодействие сервисов</a:t>
            </a:r>
            <a:endParaRPr lang="ru-RU" sz="2400" b="1" dirty="0"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C71BA3D7-6086-DE60-480C-BF0B8F8960BF}"/>
              </a:ext>
            </a:extLst>
          </p:cNvPr>
          <p:cNvCxnSpPr>
            <a:cxnSpLocks/>
          </p:cNvCxnSpPr>
          <p:nvPr/>
        </p:nvCxnSpPr>
        <p:spPr>
          <a:xfrm>
            <a:off x="345232" y="1068129"/>
            <a:ext cx="11501528" cy="0"/>
          </a:xfrm>
          <a:prstGeom prst="line">
            <a:avLst/>
          </a:prstGeom>
          <a:ln w="28575">
            <a:solidFill>
              <a:schemeClr val="tx1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C41C3FA-9695-588E-F3DF-EA2921FC9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6F792-9079-4C60-8E01-F3140190FD35}" type="slidenum">
              <a:rPr lang="ru-RU" smtClean="0">
                <a:latin typeface="Arial" panose="020B0604020202020204" pitchFamily="34" charset="0"/>
                <a:cs typeface="Arial" panose="020B0604020202020204" pitchFamily="34" charset="0"/>
              </a:rPr>
              <a:t>6</a:t>
            </a:fld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2BDC2B-6494-6C05-882D-0D1171707BF3}"/>
              </a:ext>
            </a:extLst>
          </p:cNvPr>
          <p:cNvSpPr txBox="1"/>
          <p:nvPr/>
        </p:nvSpPr>
        <p:spPr>
          <a:xfrm>
            <a:off x="2978140" y="6079350"/>
            <a:ext cx="62357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Рисунок </a:t>
            </a:r>
            <a:r>
              <a:rPr lang="ru-RU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3 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– </a:t>
            </a:r>
            <a:r>
              <a:rPr lang="ru-RU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Взаимодействие сервисов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56" name="Picture 8" descr="https://cdn-media-0.freecodecamp.org/2023/01/before-and-after-kafka-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977" y="1201889"/>
            <a:ext cx="10618035" cy="4796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962463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21">
            <a:extLst>
              <a:ext uri="{FF2B5EF4-FFF2-40B4-BE49-F238E27FC236}">
                <a16:creationId xmlns:a16="http://schemas.microsoft.com/office/drawing/2014/main" id="{586675DD-4EBB-0F18-FD83-6F0231FC93C8}"/>
              </a:ext>
            </a:extLst>
          </p:cNvPr>
          <p:cNvSpPr txBox="1">
            <a:spLocks/>
          </p:cNvSpPr>
          <p:nvPr/>
        </p:nvSpPr>
        <p:spPr>
          <a:xfrm>
            <a:off x="1981195" y="456635"/>
            <a:ext cx="8229600" cy="69269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2400" b="1" dirty="0" smtClean="0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Фаззинг-тестирование</a:t>
            </a:r>
            <a:endParaRPr lang="ru-RU" sz="2400" b="1" dirty="0"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C71BA3D7-6086-DE60-480C-BF0B8F8960BF}"/>
              </a:ext>
            </a:extLst>
          </p:cNvPr>
          <p:cNvCxnSpPr>
            <a:cxnSpLocks/>
          </p:cNvCxnSpPr>
          <p:nvPr/>
        </p:nvCxnSpPr>
        <p:spPr>
          <a:xfrm>
            <a:off x="345232" y="1068129"/>
            <a:ext cx="11501528" cy="0"/>
          </a:xfrm>
          <a:prstGeom prst="line">
            <a:avLst/>
          </a:prstGeom>
          <a:ln w="28575">
            <a:solidFill>
              <a:schemeClr val="tx1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C41C3FA-9695-588E-F3DF-EA2921FC9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6F792-9079-4C60-8E01-F3140190FD35}" type="slidenum">
              <a:rPr lang="ru-RU" smtClean="0">
                <a:latin typeface="Arial" panose="020B0604020202020204" pitchFamily="34" charset="0"/>
                <a:cs typeface="Arial" panose="020B0604020202020204" pitchFamily="34" charset="0"/>
              </a:rPr>
              <a:t>7</a:t>
            </a:fld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2BDC2B-6494-6C05-882D-0D1171707BF3}"/>
              </a:ext>
            </a:extLst>
          </p:cNvPr>
          <p:cNvSpPr txBox="1"/>
          <p:nvPr/>
        </p:nvSpPr>
        <p:spPr>
          <a:xfrm>
            <a:off x="4803462" y="5351538"/>
            <a:ext cx="69726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Рисунок </a:t>
            </a:r>
            <a:r>
              <a:rPr lang="ru-RU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4 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– </a:t>
            </a:r>
            <a:r>
              <a:rPr lang="ru-RU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Блок-схема алгоритма фаззинга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285745" y="1368468"/>
            <a:ext cx="4164335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err="1"/>
              <a:t>Фаззинг</a:t>
            </a:r>
            <a:r>
              <a:rPr lang="ru-RU" dirty="0"/>
              <a:t> — метод тестирования, при котором программе подаются случайные, некорректные или неожиданно сформированные входные данные.</a:t>
            </a:r>
          </a:p>
          <a:p>
            <a:r>
              <a:rPr lang="ru-RU" dirty="0"/>
              <a:t>• Цель </a:t>
            </a:r>
            <a:r>
              <a:rPr lang="ru-RU" dirty="0" err="1"/>
              <a:t>фаззинга</a:t>
            </a:r>
            <a:r>
              <a:rPr lang="ru-RU" dirty="0"/>
              <a:t> — выявление сбоев, ошибок и потенциальных уязвимостей.</a:t>
            </a:r>
          </a:p>
          <a:p>
            <a:r>
              <a:rPr lang="ru-RU" dirty="0"/>
              <a:t>• В работе </a:t>
            </a:r>
            <a:r>
              <a:rPr lang="ru-RU" dirty="0" err="1"/>
              <a:t>фаззинг</a:t>
            </a:r>
            <a:r>
              <a:rPr lang="ru-RU" dirty="0"/>
              <a:t> рассматривается как отдельный этап </a:t>
            </a:r>
            <a:r>
              <a:rPr lang="ru-RU" dirty="0" err="1"/>
              <a:t>пайплайна</a:t>
            </a:r>
            <a:r>
              <a:rPr lang="ru-RU" dirty="0"/>
              <a:t> CI/CD.</a:t>
            </a:r>
          </a:p>
          <a:p>
            <a:r>
              <a:rPr lang="ru-RU" dirty="0"/>
              <a:t>• Перспективное развитие — использование LLM для генерации более разнообразных и осмысленных входных данных.</a:t>
            </a:r>
          </a:p>
          <a:p>
            <a:r>
              <a:rPr lang="ru-RU" dirty="0"/>
              <a:t>• Это особенно полезно для сложных форматов, протоколов и API.</a:t>
            </a:r>
          </a:p>
        </p:txBody>
      </p:sp>
      <p:pic>
        <p:nvPicPr>
          <p:cNvPr id="3074" name="Picture 2" descr="Picture backgroun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9537" y="1760825"/>
            <a:ext cx="7420504" cy="3283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721551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7">
            <a:extLst>
              <a:ext uri="{FF2B5EF4-FFF2-40B4-BE49-F238E27FC236}">
                <a16:creationId xmlns:a16="http://schemas.microsoft.com/office/drawing/2014/main" id="{1BDE4682-EE67-4373-3937-B7D8DF39DB02}"/>
              </a:ext>
            </a:extLst>
          </p:cNvPr>
          <p:cNvSpPr txBox="1">
            <a:spLocks/>
          </p:cNvSpPr>
          <p:nvPr/>
        </p:nvSpPr>
        <p:spPr>
          <a:xfrm>
            <a:off x="3076575" y="2194168"/>
            <a:ext cx="5919143" cy="11112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600" b="1" dirty="0" smtClean="0">
                <a:latin typeface="Arial" panose="020B0604020202020204" pitchFamily="34" charset="0"/>
                <a:ea typeface="Roboto" pitchFamily="2" charset="0"/>
                <a:cs typeface="Arial" panose="020B0604020202020204" pitchFamily="34" charset="0"/>
              </a:rPr>
              <a:t>Благодарю </a:t>
            </a:r>
            <a:r>
              <a:rPr lang="ru-RU" sz="3600" b="1" dirty="0">
                <a:latin typeface="Arial" panose="020B0604020202020204" pitchFamily="34" charset="0"/>
                <a:ea typeface="Roboto" pitchFamily="2" charset="0"/>
                <a:cs typeface="Arial" panose="020B0604020202020204" pitchFamily="34" charset="0"/>
              </a:rPr>
              <a:t>за внимание!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51EB38B-82C9-2C72-3F31-5C35B00A72D2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GlowEdges/>
                    </a14:imgEffect>
                    <a14:imgEffect>
                      <a14:colorTemperature colorTemp="3876"/>
                    </a14:imgEffect>
                    <a14:imgEffect>
                      <a14:saturation sat="342000"/>
                    </a14:imgEffect>
                  </a14:imgLayer>
                </a14:imgProps>
              </a:ext>
            </a:extLst>
          </a:blip>
          <a:stretch/>
        </p:blipFill>
        <p:spPr bwMode="auto">
          <a:xfrm>
            <a:off x="9581084" y="6054022"/>
            <a:ext cx="2106491" cy="535281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420133242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1697</TotalTime>
  <Words>245</Words>
  <Application>Microsoft Office PowerPoint</Application>
  <PresentationFormat>Широкоэкранный</PresentationFormat>
  <Paragraphs>35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Roboto</vt:lpstr>
      <vt:lpstr>Тема Office</vt:lpstr>
      <vt:lpstr>Исполняющие сервисы инструмента для автоматизации сборки, тестирования и доставки ПО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Приложение для визуализации и анализа результатов моделирования биомеханического узла. Подготовка и обработка данных</dc:title>
  <dc:creator>Александр</dc:creator>
  <cp:lastModifiedBy>Vasili4</cp:lastModifiedBy>
  <cp:revision>51</cp:revision>
  <cp:lastPrinted>2024-06-25T15:10:48Z</cp:lastPrinted>
  <dcterms:created xsi:type="dcterms:W3CDTF">2023-05-19T07:36:03Z</dcterms:created>
  <dcterms:modified xsi:type="dcterms:W3CDTF">2026-05-06T18:40:15Z</dcterms:modified>
</cp:coreProperties>
</file>